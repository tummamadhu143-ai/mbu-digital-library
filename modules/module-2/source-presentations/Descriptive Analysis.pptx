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handoutMasterIdLst>
    <p:handoutMasterId r:id="rId18"/>
  </p:handoutMasterIdLst>
  <p:sldIdLst>
    <p:sldId id="3360" r:id="rId2"/>
    <p:sldId id="257" r:id="rId3"/>
    <p:sldId id="3205" r:id="rId4"/>
    <p:sldId id="3335" r:id="rId5"/>
    <p:sldId id="3347" r:id="rId6"/>
    <p:sldId id="3348" r:id="rId7"/>
    <p:sldId id="300" r:id="rId8"/>
    <p:sldId id="3267" r:id="rId9"/>
    <p:sldId id="3329" r:id="rId10"/>
    <p:sldId id="3331" r:id="rId11"/>
    <p:sldId id="3332" r:id="rId12"/>
    <p:sldId id="3336" r:id="rId13"/>
    <p:sldId id="3349" r:id="rId14"/>
    <p:sldId id="3350" r:id="rId15"/>
    <p:sldId id="3337" r:id="rId16"/>
  </p:sldIdLst>
  <p:sldSz cx="12192000" cy="6858000"/>
  <p:notesSz cx="6858000" cy="9144000"/>
  <p:embeddedFontLst>
    <p:embeddedFont>
      <p:font typeface="等线" panose="02010600030101010101" pitchFamily="2" charset="-122"/>
      <p:regular r:id="rId19"/>
      <p:bold r:id="rId2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6773"/>
    <a:srgbClr val="4067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45" autoAdjust="0"/>
    <p:restoredTop sz="94834" autoAdjust="0"/>
  </p:normalViewPr>
  <p:slideViewPr>
    <p:cSldViewPr snapToGrid="0" showGuides="1">
      <p:cViewPr varScale="1">
        <p:scale>
          <a:sx n="87" d="100"/>
          <a:sy n="87" d="100"/>
        </p:scale>
        <p:origin x="341" y="62"/>
      </p:cViewPr>
      <p:guideLst>
        <p:guide orient="horz" pos="2159"/>
        <p:guide pos="3839"/>
      </p:guideLst>
    </p:cSldViewPr>
  </p:slideViewPr>
  <p:notesTextViewPr>
    <p:cViewPr>
      <p:scale>
        <a:sx n="1" d="1"/>
        <a:sy n="1" d="1"/>
      </p:scale>
      <p:origin x="0" y="0"/>
    </p:cViewPr>
  </p:notesTextViewPr>
  <p:notesViewPr>
    <p:cSldViewPr snapToGrid="0">
      <p:cViewPr varScale="1">
        <p:scale>
          <a:sx n="57" d="100"/>
          <a:sy n="57" d="100"/>
        </p:scale>
        <p:origin x="3259"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幼圆" panose="02010509060101010101" pitchFamily="49" charset="-122"/>
              <a:ea typeface="幼圆" panose="02010509060101010101" pitchFamily="49"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6B7499-6455-4451-819C-12B4C9DE3C36}" type="datetimeFigureOut">
              <a:rPr lang="zh-CN" altLang="en-US" smtClean="0">
                <a:latin typeface="Calibri" panose="020F0502020204030204" pitchFamily="34" charset="0"/>
                <a:ea typeface="Calibri" panose="020F0502020204030204" pitchFamily="34" charset="0"/>
              </a:rPr>
              <a:t>2026/7/31</a:t>
            </a:fld>
            <a:endParaRPr lang="zh-CN" altLang="en-US" dirty="0">
              <a:latin typeface="Calibri" panose="020F0502020204030204" pitchFamily="34" charset="0"/>
              <a:ea typeface="Calibri" panose="020F0502020204030204" pitchFamily="3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幼圆" panose="02010509060101010101" pitchFamily="49" charset="-122"/>
              <a:ea typeface="幼圆" panose="02010509060101010101" pitchFamily="49"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7B39C-AED9-4162-B1B1-388A9BAAEF73}" type="slidenum">
              <a:rPr lang="zh-CN" altLang="en-US" smtClean="0">
                <a:latin typeface="Calibri" panose="020F0502020204030204" pitchFamily="34" charset="0"/>
                <a:ea typeface="Calibri" panose="020F0502020204030204" pitchFamily="34" charset="0"/>
              </a:rPr>
              <a:t>‹#›</a:t>
            </a:fld>
            <a:endParaRPr lang="zh-CN" altLang="en-US" dirty="0">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panose="020F0502020204030204" pitchFamily="34" charset="0"/>
                <a:ea typeface="Calibri" panose="020F0502020204030204" pitchFamily="34" charset="0"/>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panose="020F0502020204030204" pitchFamily="34" charset="0"/>
                <a:ea typeface="Calibri" panose="020F0502020204030204" pitchFamily="34" charset="0"/>
              </a:defRPr>
            </a:lvl1pPr>
          </a:lstStyle>
          <a:p>
            <a:fld id="{EB1E8144-1717-455B-8710-1072F1C69B3D}" type="datetimeFigureOut">
              <a:rPr lang="zh-CN" altLang="en-US" smtClean="0"/>
              <a:t>2026/7/31</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panose="020F0502020204030204" pitchFamily="34" charset="0"/>
                <a:ea typeface="Calibri" panose="020F0502020204030204" pitchFamily="34" charset="0"/>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panose="020F0502020204030204" pitchFamily="34" charset="0"/>
                <a:ea typeface="Calibri" panose="020F0502020204030204" pitchFamily="34" charset="0"/>
              </a:defRPr>
            </a:lvl1pPr>
          </a:lstStyle>
          <a:p>
            <a:fld id="{BD9C1411-A1CC-4AC7-881C-E2CC93D983CD}"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panose="020F0502020204030204" pitchFamily="34" charset="0"/>
        <a:ea typeface="Calibri" panose="020F0502020204030204" pitchFamily="34" charset="0"/>
        <a:cs typeface="+mn-cs"/>
      </a:defRPr>
    </a:lvl1pPr>
    <a:lvl2pPr marL="457200" algn="l" defTabSz="914400" rtl="0" eaLnBrk="1" latinLnBrk="0" hangingPunct="1">
      <a:defRPr sz="1200" kern="1200">
        <a:solidFill>
          <a:schemeClr val="tx1"/>
        </a:solidFill>
        <a:latin typeface="Calibri" panose="020F0502020204030204" pitchFamily="34" charset="0"/>
        <a:ea typeface="Calibri" panose="020F0502020204030204" pitchFamily="34" charset="0"/>
        <a:cs typeface="+mn-cs"/>
      </a:defRPr>
    </a:lvl2pPr>
    <a:lvl3pPr marL="914400" algn="l" defTabSz="914400" rtl="0" eaLnBrk="1" latinLnBrk="0" hangingPunct="1">
      <a:defRPr sz="1200" kern="1200">
        <a:solidFill>
          <a:schemeClr val="tx1"/>
        </a:solidFill>
        <a:latin typeface="Calibri" panose="020F0502020204030204" pitchFamily="34" charset="0"/>
        <a:ea typeface="Calibri" panose="020F0502020204030204" pitchFamily="34" charset="0"/>
        <a:cs typeface="+mn-cs"/>
      </a:defRPr>
    </a:lvl3pPr>
    <a:lvl4pPr marL="1371600" algn="l" defTabSz="914400" rtl="0" eaLnBrk="1" latinLnBrk="0" hangingPunct="1">
      <a:defRPr sz="1200" kern="1200">
        <a:solidFill>
          <a:schemeClr val="tx1"/>
        </a:solidFill>
        <a:latin typeface="Calibri" panose="020F0502020204030204" pitchFamily="34" charset="0"/>
        <a:ea typeface="Calibri" panose="020F0502020204030204" pitchFamily="34" charset="0"/>
        <a:cs typeface="+mn-cs"/>
      </a:defRPr>
    </a:lvl4pPr>
    <a:lvl5pPr marL="1828800" algn="l" defTabSz="914400" rtl="0" eaLnBrk="1" latinLnBrk="0" hangingPunct="1">
      <a:defRPr sz="1200" kern="1200">
        <a:solidFill>
          <a:schemeClr val="tx1"/>
        </a:solidFill>
        <a:latin typeface="Calibri" panose="020F0502020204030204" pitchFamily="34" charset="0"/>
        <a:ea typeface="Calibri" panose="020F050202020403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D9C1411-A1CC-4AC7-881C-E2CC93D983CD}" type="slidenum">
              <a:rPr lang="zh-CN" altLang="en-US" smtClean="0"/>
              <a:t>2</a:t>
            </a:fld>
            <a:endParaRPr lang="zh-CN" altLang="en-US" dirty="0"/>
          </a:p>
        </p:txBody>
      </p:sp>
    </p:spTree>
    <p:extLst>
      <p:ext uri="{BB962C8B-B14F-4D97-AF65-F5344CB8AC3E}">
        <p14:creationId xmlns:p14="http://schemas.microsoft.com/office/powerpoint/2010/main" val="2975725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9"/>
          <p:cNvSpPr>
            <a:spLocks noGrp="1"/>
          </p:cNvSpPr>
          <p:nvPr>
            <p:ph type="body" sz="quarter" idx="10" hasCustomPrompt="1"/>
          </p:nvPr>
        </p:nvSpPr>
        <p:spPr>
          <a:xfrm>
            <a:off x="2073614" y="2612158"/>
            <a:ext cx="1040670" cy="923330"/>
          </a:xfrm>
          <a:prstGeom prst="rect">
            <a:avLst/>
          </a:prstGeom>
        </p:spPr>
        <p:txBody>
          <a:bodyPr wrap="none">
            <a:spAutoFit/>
          </a:bodyPr>
          <a:lstStyle>
            <a:lvl1pPr marL="0" indent="0" algn="ctr">
              <a:buNone/>
              <a:defRPr lang="zh-CN" altLang="en-US" sz="6000" dirty="0" smtClean="0">
                <a:solidFill>
                  <a:schemeClr val="accent1"/>
                </a:solidFill>
                <a:latin typeface="Arial" panose="020B0604020202020204" pitchFamily="34" charset="0"/>
                <a:ea typeface="Calibri" panose="020F0502020204030204" pitchFamily="34" charset="0"/>
                <a:cs typeface="Calibri" panose="020F0502020204030204" pitchFamily="34" charset="0"/>
              </a:defRPr>
            </a:lvl1pPr>
          </a:lstStyle>
          <a:p>
            <a:pPr marL="0" lvl="0"/>
            <a:r>
              <a:rPr lang="en-US" altLang="zh-CN" dirty="0"/>
              <a:t>00</a:t>
            </a:r>
            <a:endParaRPr lang="zh-CN" altLang="en-US" dirty="0"/>
          </a:p>
        </p:txBody>
      </p:sp>
      <p:cxnSp>
        <p:nvCxnSpPr>
          <p:cNvPr id="16" name="直接连接符 15"/>
          <p:cNvCxnSpPr/>
          <p:nvPr userDrawn="1"/>
        </p:nvCxnSpPr>
        <p:spPr>
          <a:xfrm flipH="1">
            <a:off x="2720372" y="3535488"/>
            <a:ext cx="494937" cy="523106"/>
          </a:xfrm>
          <a:prstGeom prst="line">
            <a:avLst/>
          </a:prstGeom>
        </p:spPr>
        <p:style>
          <a:lnRef idx="1">
            <a:schemeClr val="accent1"/>
          </a:lnRef>
          <a:fillRef idx="0">
            <a:schemeClr val="accent1"/>
          </a:fillRef>
          <a:effectRef idx="0">
            <a:schemeClr val="accent1"/>
          </a:effectRef>
          <a:fontRef idx="minor">
            <a:schemeClr val="tx1"/>
          </a:fontRef>
        </p:style>
      </p:cxnSp>
      <p:sp>
        <p:nvSpPr>
          <p:cNvPr id="17" name="文本占位符 9"/>
          <p:cNvSpPr>
            <a:spLocks noGrp="1"/>
          </p:cNvSpPr>
          <p:nvPr>
            <p:ph type="body" sz="quarter" idx="11" hasCustomPrompt="1"/>
          </p:nvPr>
        </p:nvSpPr>
        <p:spPr>
          <a:xfrm>
            <a:off x="3862067" y="3518101"/>
            <a:ext cx="6712209" cy="304763"/>
          </a:xfrm>
          <a:prstGeom prst="rect">
            <a:avLst/>
          </a:prstGeom>
        </p:spPr>
        <p:txBody>
          <a:bodyPr wrap="square">
            <a:spAutoFit/>
          </a:bodyPr>
          <a:lstStyle>
            <a:lvl1pPr marL="0" indent="0" algn="ctr">
              <a:lnSpc>
                <a:spcPct val="150000"/>
              </a:lnSpc>
              <a:buNone/>
              <a:defRPr lang="zh-CN" altLang="en-US" sz="1050" spc="300" dirty="0" smtClean="0">
                <a:solidFill>
                  <a:schemeClr val="accent1"/>
                </a:solidFill>
                <a:latin typeface="Arial" panose="020B0604020202020204" pitchFamily="34" charset="0"/>
                <a:ea typeface="Calibri" panose="020F0502020204030204" pitchFamily="34" charset="0"/>
                <a:cs typeface="Calibri" panose="020F0502020204030204" pitchFamily="34" charset="0"/>
              </a:defRPr>
            </a:lvl1pPr>
          </a:lstStyle>
          <a:p>
            <a:pPr marL="0" lvl="0"/>
            <a:r>
              <a:rPr lang="en-US" altLang="zh-CN" dirty="0"/>
              <a:t>Please text your title here. Your content to play here.</a:t>
            </a:r>
          </a:p>
        </p:txBody>
      </p:sp>
      <p:sp>
        <p:nvSpPr>
          <p:cNvPr id="18" name="标题 12"/>
          <p:cNvSpPr>
            <a:spLocks noGrp="1"/>
          </p:cNvSpPr>
          <p:nvPr>
            <p:ph type="title" hasCustomPrompt="1"/>
          </p:nvPr>
        </p:nvSpPr>
        <p:spPr>
          <a:xfrm>
            <a:off x="3862067" y="2502956"/>
            <a:ext cx="6535286" cy="782431"/>
          </a:xfrm>
          <a:prstGeom prst="rect">
            <a:avLst/>
          </a:prstGeom>
        </p:spPr>
        <p:txBody>
          <a:bodyPr/>
          <a:lstStyle>
            <a:lvl1pPr algn="ctr">
              <a:defRPr sz="5500" spc="600">
                <a:latin typeface="Calibri" panose="020F0502020204030204" pitchFamily="34" charset="0"/>
                <a:ea typeface="Calibri" panose="020F0502020204030204" pitchFamily="34" charset="0"/>
              </a:defRPr>
            </a:lvl1pPr>
          </a:lstStyle>
          <a:p>
            <a:r>
              <a:rPr lang="zh-CN" altLang="en-US" dirty="0"/>
              <a:t>在此输入标题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down)">
                                      <p:cBhvr>
                                        <p:cTn id="14" dur="500"/>
                                        <p:tgtEl>
                                          <p:spTgt spid="18"/>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17">
                                            <p:txEl>
                                              <p:pRg st="0" end="0"/>
                                            </p:txEl>
                                          </p:spTgt>
                                        </p:tgtEl>
                                        <p:attrNameLst>
                                          <p:attrName>style.visibility</p:attrName>
                                        </p:attrNameLst>
                                      </p:cBhvr>
                                      <p:to>
                                        <p:strVal val="visible"/>
                                      </p:to>
                                    </p:set>
                                    <p:animEffect transition="in" filter="wipe(down)">
                                      <p:cBhvr>
                                        <p:cTn id="18"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4"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down)">
                      <p:cBhvr>
                        <p:cTn dur="500"/>
                        <p:tgtEl>
                          <p:spTgt spid="7"/>
                        </p:tgtEl>
                      </p:cBhvr>
                    </p:animEffect>
                  </p:childTnLst>
                </p:cTn>
              </p:par>
            </p:tnLst>
          </p:tmpl>
        </p:tmplLst>
      </p:bldP>
      <p:bldP spid="17" grpId="0" build="p">
        <p:tmplLst>
          <p:tmpl lvl="1">
            <p:tnLst>
              <p:par>
                <p:cTn presetID="22" presetClass="entr" presetSubtype="4"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down)">
                      <p:cBhvr>
                        <p:cTn dur="500"/>
                        <p:tgtEl>
                          <p:spTgt spid="17"/>
                        </p:tgtEl>
                      </p:cBhvr>
                    </p:animEffect>
                  </p:childTnLst>
                </p:cTn>
              </p:par>
            </p:tnLst>
          </p:tmpl>
        </p:tmplLst>
      </p:bldP>
      <p:bldP spid="18"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标题 12"/>
          <p:cNvSpPr>
            <a:spLocks noGrp="1"/>
          </p:cNvSpPr>
          <p:nvPr>
            <p:ph type="title" hasCustomPrompt="1"/>
          </p:nvPr>
        </p:nvSpPr>
        <p:spPr>
          <a:xfrm>
            <a:off x="1929440" y="338289"/>
            <a:ext cx="8333120" cy="476324"/>
          </a:xfrm>
          <a:prstGeom prst="rect">
            <a:avLst/>
          </a:prstGeom>
        </p:spPr>
        <p:txBody>
          <a:bodyPr>
            <a:noAutofit/>
          </a:bodyPr>
          <a:lstStyle>
            <a:lvl1pPr algn="ctr">
              <a:defRPr sz="2800" b="1" spc="600">
                <a:effectLst>
                  <a:outerShdw blurRad="38100" dist="38100" dir="2700000" algn="tl">
                    <a:srgbClr val="000000">
                      <a:alpha val="43137"/>
                    </a:srgbClr>
                  </a:outerShdw>
                </a:effectLst>
                <a:latin typeface="Calibri" panose="020F0502020204030204" pitchFamily="34" charset="0"/>
                <a:ea typeface="Calibri" panose="020F0502020204030204" pitchFamily="34" charset="0"/>
              </a:defRPr>
            </a:lvl1pPr>
          </a:lstStyle>
          <a:p>
            <a:r>
              <a:rPr lang="zh-CN" altLang="en-US" dirty="0"/>
              <a:t>标题</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6"/>
          <a:tile tx="0" ty="0" sx="100000" sy="100000" flip="none" algn="tl"/>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escriptive-analysis"/>
          <p:cNvPicPr>
            <a:picLocks noChangeAspect="1"/>
          </p:cNvPicPr>
          <p:nvPr/>
        </p:nvPicPr>
        <p:blipFill>
          <a:blip r:embed="rId2"/>
          <a:stretch>
            <a:fillRect/>
          </a:stretch>
        </p:blipFill>
        <p:spPr>
          <a:xfrm>
            <a:off x="0" y="-295910"/>
            <a:ext cx="12620625" cy="7557135"/>
          </a:xfrm>
          <a:prstGeom prst="rect">
            <a:avLst/>
          </a:prstGeom>
        </p:spPr>
      </p:pic>
      <p:sp>
        <p:nvSpPr>
          <p:cNvPr id="3" name="Round Single Corner Rectangle 2"/>
          <p:cNvSpPr/>
          <p:nvPr/>
        </p:nvSpPr>
        <p:spPr>
          <a:xfrm>
            <a:off x="9074785" y="5149850"/>
            <a:ext cx="3117215" cy="1024255"/>
          </a:xfrm>
          <a:prstGeom prst="round1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GB"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2190115" y="2689225"/>
            <a:ext cx="3227705" cy="645160"/>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mn-cs"/>
              </a:rPr>
              <a:t>CONTENTS</a:t>
            </a:r>
          </a:p>
        </p:txBody>
      </p:sp>
      <p:sp>
        <p:nvSpPr>
          <p:cNvPr id="30" name="矩形 29"/>
          <p:cNvSpPr/>
          <p:nvPr/>
        </p:nvSpPr>
        <p:spPr>
          <a:xfrm>
            <a:off x="6351096" y="1541241"/>
            <a:ext cx="1579880" cy="368300"/>
          </a:xfrm>
          <a:prstGeom prst="rect">
            <a:avLst/>
          </a:prstGeom>
          <a:effectLst/>
        </p:spPr>
        <p:txBody>
          <a:bodyPr wrap="none">
            <a:spAutoFit/>
          </a:bodyPr>
          <a:lstStyle/>
          <a:p>
            <a:pPr lvl="0">
              <a:defRPr/>
            </a:pPr>
            <a:r>
              <a:rPr lang="zh-CN" altLang="en-US"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 </a:t>
            </a:r>
            <a:r>
              <a:rPr lang="en-GB" altLang="zh-CN"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Introduction</a:t>
            </a:r>
            <a:endParaRPr lang="en-GB" altLang="zh-CN" sz="1050"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endParaRPr>
          </a:p>
        </p:txBody>
      </p:sp>
      <p:sp>
        <p:nvSpPr>
          <p:cNvPr id="31" name="圆角矩形 55"/>
          <p:cNvSpPr/>
          <p:nvPr/>
        </p:nvSpPr>
        <p:spPr bwMode="auto">
          <a:xfrm>
            <a:off x="5543334" y="1458945"/>
            <a:ext cx="516977" cy="533057"/>
          </a:xfrm>
          <a:prstGeom prst="ellipse">
            <a:avLst/>
          </a:prstGeom>
          <a:solidFill>
            <a:schemeClr val="tx1"/>
          </a:solidFill>
          <a:ln w="38100">
            <a:noFill/>
          </a:ln>
          <a:effectLst>
            <a:outerShdw blurRad="203200" dist="88900" dir="8100000" sx="102000" sy="102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1</a:t>
            </a:r>
            <a:endParaRPr lang="zh-CN" altLang="en-US"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endParaRPr>
          </a:p>
        </p:txBody>
      </p:sp>
      <p:sp>
        <p:nvSpPr>
          <p:cNvPr id="32" name="矩形 31"/>
          <p:cNvSpPr/>
          <p:nvPr/>
        </p:nvSpPr>
        <p:spPr>
          <a:xfrm>
            <a:off x="6351096" y="2525177"/>
            <a:ext cx="4093845" cy="368300"/>
          </a:xfrm>
          <a:prstGeom prst="rect">
            <a:avLst/>
          </a:prstGeom>
          <a:effectLst/>
        </p:spPr>
        <p:txBody>
          <a:bodyPr wrap="none">
            <a:spAutoFit/>
          </a:bodyPr>
          <a:lstStyle/>
          <a:p>
            <a:pPr lvl="0" algn="l">
              <a:defRPr/>
            </a:pPr>
            <a:r>
              <a:rPr lang="zh-CN" altLang="en-US"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Techniques for Descriptive Analysis</a:t>
            </a:r>
          </a:p>
        </p:txBody>
      </p:sp>
      <p:sp>
        <p:nvSpPr>
          <p:cNvPr id="33" name="圆角矩形 74"/>
          <p:cNvSpPr/>
          <p:nvPr/>
        </p:nvSpPr>
        <p:spPr bwMode="auto">
          <a:xfrm>
            <a:off x="5543334" y="2442882"/>
            <a:ext cx="516977" cy="533057"/>
          </a:xfrm>
          <a:prstGeom prst="ellipse">
            <a:avLst/>
          </a:prstGeom>
          <a:solidFill>
            <a:schemeClr val="tx1"/>
          </a:solidFill>
          <a:ln w="38100">
            <a:noFill/>
          </a:ln>
          <a:effectLst>
            <a:outerShdw blurRad="203200" dist="88900" dir="8100000" sx="102000" sy="102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2</a:t>
            </a:r>
            <a:endParaRPr lang="zh-CN" altLang="en-US"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endParaRPr>
          </a:p>
        </p:txBody>
      </p:sp>
      <p:sp>
        <p:nvSpPr>
          <p:cNvPr id="34" name="矩形 33"/>
          <p:cNvSpPr/>
          <p:nvPr/>
        </p:nvSpPr>
        <p:spPr>
          <a:xfrm>
            <a:off x="6351096" y="3510932"/>
            <a:ext cx="3399200" cy="646331"/>
          </a:xfrm>
          <a:prstGeom prst="rect">
            <a:avLst/>
          </a:prstGeom>
          <a:effectLst/>
        </p:spPr>
        <p:txBody>
          <a:bodyPr wrap="none">
            <a:spAutoFit/>
          </a:bodyPr>
          <a:lstStyle/>
          <a:p>
            <a:pPr lvl="0">
              <a:defRPr/>
            </a:pPr>
            <a:r>
              <a:rPr lang="en-GB" altLang="zh-CN"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Types of Descriptive Analysis</a:t>
            </a:r>
            <a:r>
              <a:rPr lang="zh-CN" altLang="en-US"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
</a:t>
            </a:r>
            <a:endParaRPr lang="zh-CN" altLang="en-US" sz="1050"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endParaRPr>
          </a:p>
        </p:txBody>
      </p:sp>
      <p:sp>
        <p:nvSpPr>
          <p:cNvPr id="35" name="圆角矩形 100"/>
          <p:cNvSpPr/>
          <p:nvPr/>
        </p:nvSpPr>
        <p:spPr bwMode="auto">
          <a:xfrm>
            <a:off x="5543334" y="3428637"/>
            <a:ext cx="516977" cy="533057"/>
          </a:xfrm>
          <a:prstGeom prst="ellipse">
            <a:avLst/>
          </a:prstGeom>
          <a:solidFill>
            <a:schemeClr val="tx1"/>
          </a:solidFill>
          <a:ln w="38100">
            <a:noFill/>
          </a:ln>
          <a:effectLst>
            <a:outerShdw blurRad="203200" dist="88900" dir="8100000" sx="102000" sy="102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3</a:t>
            </a:r>
            <a:endParaRPr lang="zh-CN" altLang="en-US"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endParaRPr>
          </a:p>
        </p:txBody>
      </p:sp>
      <p:sp>
        <p:nvSpPr>
          <p:cNvPr id="36" name="矩形 35"/>
          <p:cNvSpPr/>
          <p:nvPr/>
        </p:nvSpPr>
        <p:spPr>
          <a:xfrm>
            <a:off x="6351096" y="4513747"/>
            <a:ext cx="309880" cy="529590"/>
          </a:xfrm>
          <a:prstGeom prst="rect">
            <a:avLst/>
          </a:prstGeom>
          <a:effectLst/>
        </p:spPr>
        <p:txBody>
          <a:bodyPr wrap="none">
            <a:spAutoFit/>
          </a:bodyPr>
          <a:lstStyle/>
          <a:p>
            <a:pPr lvl="0">
              <a:defRPr/>
            </a:pPr>
            <a:r>
              <a:rPr lang="zh-CN" altLang="en-US"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
</a:t>
            </a:r>
            <a:endParaRPr lang="zh-CN" altLang="en-US" sz="1050"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endParaRPr>
          </a:p>
        </p:txBody>
      </p:sp>
      <p:sp>
        <p:nvSpPr>
          <p:cNvPr id="37" name="圆角矩形 106"/>
          <p:cNvSpPr/>
          <p:nvPr/>
        </p:nvSpPr>
        <p:spPr bwMode="auto">
          <a:xfrm>
            <a:off x="5543334" y="4431451"/>
            <a:ext cx="516977" cy="533057"/>
          </a:xfrm>
          <a:prstGeom prst="ellipse">
            <a:avLst/>
          </a:prstGeom>
          <a:solidFill>
            <a:schemeClr val="tx1"/>
          </a:solidFill>
          <a:ln w="38100">
            <a:noFill/>
          </a:ln>
          <a:effectLst>
            <a:outerShdw blurRad="203200" dist="88900" dir="8100000" sx="102000" sy="102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rPr>
              <a:t>4</a:t>
            </a:r>
            <a:endParaRPr lang="zh-CN" altLang="en-US" b="1" dirty="0">
              <a:latin typeface="Arial" panose="020B0604020202020204" pitchFamily="34" charset="0"/>
              <a:ea typeface="Calibri" panose="020F0502020204030204" pitchFamily="34" charset="0"/>
              <a:cs typeface="Calibri" panose="020F0502020204030204" pitchFamily="34" charset="0"/>
              <a:sym typeface="Arial" panose="020B0604020202020204" pitchFamily="34" charset="0"/>
            </a:endParaRPr>
          </a:p>
        </p:txBody>
      </p:sp>
      <p:sp>
        <p:nvSpPr>
          <p:cNvPr id="2" name="Text Box 1"/>
          <p:cNvSpPr txBox="1"/>
          <p:nvPr/>
        </p:nvSpPr>
        <p:spPr>
          <a:xfrm>
            <a:off x="6351270" y="4496435"/>
            <a:ext cx="4732020" cy="368300"/>
          </a:xfrm>
          <a:prstGeom prst="rect">
            <a:avLst/>
          </a:prstGeom>
          <a:noFill/>
        </p:spPr>
        <p:txBody>
          <a:bodyPr wrap="square" rtlCol="0">
            <a:spAutoFit/>
          </a:bodyPr>
          <a:lstStyle/>
          <a:p>
            <a:r>
              <a:rPr lang="en-GB" altLang="en-US" b="1" dirty="0"/>
              <a:t>How to Conduct a Descriptive Analysis</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6"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p:txBody>
          <a:bodyPr/>
          <a:lstStyle/>
          <a:p>
            <a:r>
              <a:rPr lang="en-US" altLang="zh-CN" dirty="0"/>
              <a:t>01</a:t>
            </a:r>
          </a:p>
        </p:txBody>
      </p:sp>
      <p:sp>
        <p:nvSpPr>
          <p:cNvPr id="11" name="文本占位符 10"/>
          <p:cNvSpPr>
            <a:spLocks noGrp="1"/>
          </p:cNvSpPr>
          <p:nvPr>
            <p:ph type="body" sz="quarter" idx="11"/>
          </p:nvPr>
        </p:nvSpPr>
        <p:spPr>
          <a:xfrm>
            <a:off x="3862705" y="3255645"/>
            <a:ext cx="6711950" cy="2698115"/>
          </a:xfrm>
        </p:spPr>
        <p:txBody>
          <a:bodyPr>
            <a:noAutofit/>
          </a:bodyPr>
          <a:lstStyle/>
          <a:p>
            <a:r>
              <a:rPr lang="en-US" altLang="zh-CN" dirty="0"/>
              <a:t>. 
</a:t>
            </a:r>
          </a:p>
        </p:txBody>
      </p:sp>
      <p:sp>
        <p:nvSpPr>
          <p:cNvPr id="10" name="标题 9"/>
          <p:cNvSpPr>
            <a:spLocks noGrp="1"/>
          </p:cNvSpPr>
          <p:nvPr>
            <p:ph type="title"/>
          </p:nvPr>
        </p:nvSpPr>
        <p:spPr>
          <a:xfrm>
            <a:off x="3862070" y="617855"/>
            <a:ext cx="6343650" cy="752475"/>
          </a:xfrm>
        </p:spPr>
        <p:txBody>
          <a:bodyPr/>
          <a:lstStyle/>
          <a:p>
            <a:r>
              <a:rPr lang="en-GB" altLang="zh-CN" sz="4000" dirty="0"/>
              <a:t>Introduction</a:t>
            </a:r>
          </a:p>
        </p:txBody>
      </p:sp>
      <p:sp>
        <p:nvSpPr>
          <p:cNvPr id="2" name="Text Box 1"/>
          <p:cNvSpPr txBox="1"/>
          <p:nvPr/>
        </p:nvSpPr>
        <p:spPr>
          <a:xfrm>
            <a:off x="3244850" y="1750695"/>
            <a:ext cx="7419340" cy="4203065"/>
          </a:xfrm>
          <a:prstGeom prst="rect">
            <a:avLst/>
          </a:prstGeom>
          <a:noFill/>
        </p:spPr>
        <p:txBody>
          <a:bodyPr wrap="square" rtlCol="0">
            <a:noAutofit/>
          </a:bodyPr>
          <a:lstStyle/>
          <a:p>
            <a:r>
              <a:rPr lang="en-GB" altLang="en-US" sz="2400" dirty="0"/>
              <a:t>The conversion of raw data into a form that will make it easy to understand &amp; interpret, </a:t>
            </a:r>
            <a:r>
              <a:rPr lang="en-GB" altLang="en-US" sz="2400" dirty="0" err="1"/>
              <a:t>ie</a:t>
            </a:r>
            <a:r>
              <a:rPr lang="en-GB" altLang="en-US" sz="2400" dirty="0"/>
              <a:t>., rearranging, ordering, and manipulating data to provide insightful information about the provided data.</a:t>
            </a:r>
          </a:p>
          <a:p>
            <a:endParaRPr lang="en-GB" altLang="en-US" sz="2400" dirty="0"/>
          </a:p>
          <a:p>
            <a:r>
              <a:rPr lang="en-GB" altLang="en-US" sz="2400" dirty="0"/>
              <a:t> </a:t>
            </a:r>
          </a:p>
          <a:p>
            <a:endParaRPr lang="en-GB" altLang="en-US" sz="2400" dirty="0"/>
          </a:p>
          <a:p>
            <a:r>
              <a:rPr lang="en-GB" altLang="en-US" sz="2400" dirty="0"/>
              <a:t>Descriptive Analysis is the type of analysis of data that helps describe, show or summarize data points in a constructive way such that patterns might emerge that </a:t>
            </a:r>
            <a:r>
              <a:rPr lang="en-GB" altLang="en-US" sz="2400" dirty="0" err="1"/>
              <a:t>fulfill</a:t>
            </a:r>
            <a:r>
              <a:rPr lang="en-GB" altLang="en-US" sz="2400" dirty="0"/>
              <a:t> every condition of the data.</a:t>
            </a:r>
          </a:p>
          <a:p>
            <a:endParaRPr lang="en-GB" altLang="en-US" sz="2400" dirty="0"/>
          </a:p>
          <a:p>
            <a:r>
              <a:rPr lang="en-GB" altLang="en-US" dirty="0"/>
              <a:t> </a:t>
            </a:r>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p:cNvSpPr>
            <a:spLocks noGrp="1"/>
          </p:cNvSpPr>
          <p:nvPr>
            <p:ph type="body" sz="quarter" idx="11"/>
          </p:nvPr>
        </p:nvSpPr>
        <p:spPr>
          <a:xfrm>
            <a:off x="3862705" y="3255645"/>
            <a:ext cx="6711950" cy="2698115"/>
          </a:xfrm>
        </p:spPr>
        <p:txBody>
          <a:bodyPr>
            <a:noAutofit/>
          </a:bodyPr>
          <a:lstStyle/>
          <a:p>
            <a:r>
              <a:rPr lang="en-US" altLang="zh-CN" dirty="0"/>
              <a:t>. 
</a:t>
            </a:r>
          </a:p>
        </p:txBody>
      </p:sp>
      <p:sp>
        <p:nvSpPr>
          <p:cNvPr id="10" name="标题 9"/>
          <p:cNvSpPr>
            <a:spLocks noGrp="1"/>
          </p:cNvSpPr>
          <p:nvPr>
            <p:ph type="title"/>
          </p:nvPr>
        </p:nvSpPr>
        <p:spPr>
          <a:xfrm>
            <a:off x="3862070" y="617855"/>
            <a:ext cx="6343650" cy="752475"/>
          </a:xfrm>
        </p:spPr>
        <p:txBody>
          <a:bodyPr/>
          <a:lstStyle/>
          <a:p>
            <a:r>
              <a:rPr lang="en-GB" altLang="zh-CN" sz="4000" dirty="0"/>
              <a:t>What is Descriptive Analysis?</a:t>
            </a:r>
          </a:p>
        </p:txBody>
      </p:sp>
      <p:sp>
        <p:nvSpPr>
          <p:cNvPr id="2" name="Text Box 1"/>
          <p:cNvSpPr txBox="1"/>
          <p:nvPr/>
        </p:nvSpPr>
        <p:spPr>
          <a:xfrm>
            <a:off x="2918460" y="1750695"/>
            <a:ext cx="7745730" cy="4203065"/>
          </a:xfrm>
          <a:prstGeom prst="rect">
            <a:avLst/>
          </a:prstGeom>
          <a:noFill/>
        </p:spPr>
        <p:txBody>
          <a:bodyPr wrap="square" rtlCol="0">
            <a:noAutofit/>
          </a:bodyPr>
          <a:lstStyle/>
          <a:p>
            <a:r>
              <a:rPr lang="en-GB" altLang="en-US" sz="2200"/>
              <a:t>Descriptive analysis is a sort of data research that aids in describing, demonstrating, or helpfully summarizing data points so those patterns may develop that satisfy all of the conditions of the data.</a:t>
            </a:r>
          </a:p>
          <a:p>
            <a:endParaRPr lang="en-GB" altLang="en-US" sz="2200"/>
          </a:p>
          <a:p>
            <a:r>
              <a:rPr lang="en-GB" altLang="en-US" sz="2200"/>
              <a:t>It is the technique of identifying patterns and links by utilizing recent and historical data. Because it identifies patterns and associations without going any further, it is frequently referred to as the most basic data analysis.</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p:cNvSpPr>
            <a:spLocks noGrp="1"/>
          </p:cNvSpPr>
          <p:nvPr>
            <p:ph type="body" sz="quarter" idx="11"/>
          </p:nvPr>
        </p:nvSpPr>
        <p:spPr>
          <a:xfrm>
            <a:off x="3862705" y="3255645"/>
            <a:ext cx="6711950" cy="2698115"/>
          </a:xfrm>
        </p:spPr>
        <p:txBody>
          <a:bodyPr>
            <a:noAutofit/>
          </a:bodyPr>
          <a:lstStyle/>
          <a:p>
            <a:r>
              <a:rPr lang="en-US" altLang="zh-CN" dirty="0"/>
              <a:t>. 
</a:t>
            </a:r>
          </a:p>
        </p:txBody>
      </p:sp>
      <p:sp>
        <p:nvSpPr>
          <p:cNvPr id="10" name="标题 9"/>
          <p:cNvSpPr>
            <a:spLocks noGrp="1"/>
          </p:cNvSpPr>
          <p:nvPr>
            <p:ph type="title"/>
          </p:nvPr>
        </p:nvSpPr>
        <p:spPr>
          <a:xfrm>
            <a:off x="3862070" y="617855"/>
            <a:ext cx="6343650" cy="752475"/>
          </a:xfrm>
        </p:spPr>
        <p:txBody>
          <a:bodyPr/>
          <a:lstStyle/>
          <a:p>
            <a:r>
              <a:rPr lang="en-GB" altLang="zh-CN" sz="4000" dirty="0"/>
              <a:t>Techniques for Descriptive Analysis</a:t>
            </a:r>
            <a:br>
              <a:rPr lang="en-GB" altLang="zh-CN" sz="4000" dirty="0"/>
            </a:br>
            <a:br>
              <a:rPr lang="en-GB" altLang="zh-CN" sz="4000" dirty="0"/>
            </a:br>
            <a:r>
              <a:rPr lang="en-GB" altLang="zh-CN" sz="4000" dirty="0"/>
              <a:t> </a:t>
            </a:r>
          </a:p>
        </p:txBody>
      </p:sp>
      <p:sp>
        <p:nvSpPr>
          <p:cNvPr id="2" name="Text Box 1"/>
          <p:cNvSpPr txBox="1"/>
          <p:nvPr/>
        </p:nvSpPr>
        <p:spPr>
          <a:xfrm>
            <a:off x="804545" y="1750695"/>
            <a:ext cx="9859645" cy="4203065"/>
          </a:xfrm>
          <a:prstGeom prst="rect">
            <a:avLst/>
          </a:prstGeom>
          <a:noFill/>
        </p:spPr>
        <p:txBody>
          <a:bodyPr wrap="square" rtlCol="0">
            <a:noAutofit/>
          </a:bodyPr>
          <a:lstStyle/>
          <a:p>
            <a:endParaRPr lang="en-GB" altLang="en-US" sz="2200" dirty="0"/>
          </a:p>
          <a:p>
            <a:r>
              <a:rPr lang="en-GB" altLang="en-US" sz="2200" dirty="0"/>
              <a:t>1.Descriptive techniques often include constructing tables of quantiles and means, methods of dispersion such as variance or standard deviation, and cross-tabulations or "crosstabs" that can be used to carry out many disparate hypotheses. </a:t>
            </a:r>
          </a:p>
          <a:p>
            <a:endParaRPr lang="en-GB" altLang="en-US" sz="2200" dirty="0"/>
          </a:p>
          <a:p>
            <a:endParaRPr lang="en-GB" altLang="en-US" sz="2200" dirty="0"/>
          </a:p>
          <a:p>
            <a:r>
              <a:rPr lang="en-GB" altLang="en-US" sz="2200" dirty="0"/>
              <a:t>2.Measures like segregation, discrimination, and inequality are studied using specialised descriptive techniques. Discrimination is measured with the help of audit studies or decomposition methods.</a:t>
            </a:r>
          </a:p>
          <a:p>
            <a:endParaRPr lang="en-GB" altLang="en-US" sz="2200" dirty="0"/>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p:cNvSpPr>
            <a:spLocks noGrp="1"/>
          </p:cNvSpPr>
          <p:nvPr>
            <p:ph type="body" sz="quarter" idx="11"/>
          </p:nvPr>
        </p:nvSpPr>
        <p:spPr>
          <a:xfrm>
            <a:off x="3862705" y="3255645"/>
            <a:ext cx="6711950" cy="2698115"/>
          </a:xfrm>
        </p:spPr>
        <p:txBody>
          <a:bodyPr>
            <a:noAutofit/>
          </a:bodyPr>
          <a:lstStyle/>
          <a:p>
            <a:r>
              <a:rPr lang="en-US" altLang="zh-CN" dirty="0"/>
              <a:t>. 
</a:t>
            </a:r>
          </a:p>
        </p:txBody>
      </p:sp>
      <p:sp>
        <p:nvSpPr>
          <p:cNvPr id="2" name="Text Box 1"/>
          <p:cNvSpPr txBox="1"/>
          <p:nvPr/>
        </p:nvSpPr>
        <p:spPr>
          <a:xfrm>
            <a:off x="3021330" y="1870710"/>
            <a:ext cx="7813675" cy="4203065"/>
          </a:xfrm>
          <a:prstGeom prst="rect">
            <a:avLst/>
          </a:prstGeom>
          <a:noFill/>
        </p:spPr>
        <p:txBody>
          <a:bodyPr wrap="square" rtlCol="0">
            <a:noAutofit/>
          </a:bodyPr>
          <a:lstStyle/>
          <a:p>
            <a:r>
              <a:rPr lang="en-GB" altLang="en-US" sz="2400"/>
              <a:t>3. A table of means by subgroup is used to show important differences across subgroups, which mostly results in inference and conclusions being made.</a:t>
            </a:r>
          </a:p>
          <a:p>
            <a:endParaRPr lang="en-GB" altLang="en-US" sz="2400"/>
          </a:p>
          <a:p>
            <a:r>
              <a:rPr lang="en-GB" altLang="en-US" sz="2400"/>
              <a:t>4. A crosstab or two-way tabulation is supposed to show the proportions of components with unique values for each of two variables available, or cell proportions. </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62b4c5fb2654cab097d9c198_P8euqPKs2bz5lrfrVd7zVU_UHnEKqxed4eYtnEz8_OjhAn-2gu7dgVR6q0r-lE8qdPQF1b9qdOZXgiPsjkEDUfeufCllDmofbgMAyUsP-UWOKAgXhXK55rySX6qwQXL5uNd5emZa"/>
          <p:cNvPicPr>
            <a:picLocks noChangeAspect="1"/>
          </p:cNvPicPr>
          <p:nvPr/>
        </p:nvPicPr>
        <p:blipFill>
          <a:blip r:embed="rId3"/>
          <a:srcRect l="9142" t="8523" r="8553" b="16612"/>
          <a:stretch>
            <a:fillRect/>
          </a:stretch>
        </p:blipFill>
        <p:spPr>
          <a:xfrm>
            <a:off x="1037491" y="395655"/>
            <a:ext cx="9410219" cy="58908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29440" y="563079"/>
            <a:ext cx="8333120" cy="476324"/>
          </a:xfrm>
        </p:spPr>
        <p:txBody>
          <a:bodyPr/>
          <a:lstStyle/>
          <a:p>
            <a:r>
              <a:rPr lang="zh-CN" altLang="zh-CN"/>
              <a:t>  Measures of Frequency</a:t>
            </a:r>
            <a:br>
              <a:rPr lang="zh-CN" altLang="zh-CN"/>
            </a:br>
            <a:br>
              <a:rPr lang="zh-CN" altLang="zh-CN"/>
            </a:br>
            <a:r>
              <a:rPr lang="zh-CN" altLang="zh-CN"/>
              <a:t> </a:t>
            </a:r>
          </a:p>
        </p:txBody>
      </p:sp>
      <p:sp>
        <p:nvSpPr>
          <p:cNvPr id="10" name="TextBox 23"/>
          <p:cNvSpPr txBox="1"/>
          <p:nvPr/>
        </p:nvSpPr>
        <p:spPr>
          <a:xfrm>
            <a:off x="727075" y="2132330"/>
            <a:ext cx="10737850" cy="3602990"/>
          </a:xfrm>
          <a:prstGeom prst="rect">
            <a:avLst/>
          </a:prstGeom>
          <a:ln>
            <a:noFill/>
          </a:ln>
        </p:spPr>
        <p:txBody>
          <a:bodyPr wrap="square">
            <a:noAutofit/>
            <a:scene3d>
              <a:camera prst="orthographicFront"/>
              <a:lightRig rig="threePt" dir="t"/>
            </a:scene3d>
            <a:sp3d contourW="12700"/>
          </a:bodyPr>
          <a:lstStyle>
            <a:defPPr>
              <a:defRPr lang="zh-CN"/>
            </a:defPPr>
            <a:lvl1pPr algn="just">
              <a:lnSpc>
                <a:spcPct val="150000"/>
              </a:lnSpc>
              <a:defRPr sz="1400">
                <a:solidFill>
                  <a:schemeClr val="tx1">
                    <a:lumMod val="65000"/>
                    <a:lumOff val="35000"/>
                  </a:schemeClr>
                </a:solidFill>
                <a:latin typeface="Arial" panose="020B0604020202020204" pitchFamily="34" charset="0"/>
                <a:ea typeface="黑体" panose="02010609060101010101" pitchFamily="49" charset="-122"/>
                <a:cs typeface="+mn-ea"/>
              </a:defRPr>
            </a:lvl1pPr>
          </a:lstStyle>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In descriptive analysis, it’s essential to know how frequently a certain event or response is likely to occur. </a:t>
            </a:r>
          </a:p>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This is the prime purpose of measures of frequency to make like a count or percent. </a:t>
            </a:r>
          </a:p>
          <a:p>
            <a:endParaRPr lang="zh-CN" altLang="en-US" sz="2200" dirty="0">
              <a:ea typeface="Calibri" panose="020F0502020204030204" pitchFamily="34" charset="0"/>
              <a:cs typeface="Calibri" panose="020F0502020204030204" pitchFamily="34" charset="0"/>
              <a:sym typeface="Arial" panose="020B0604020202020204" pitchFamily="34" charset="0"/>
            </a:endParaRPr>
          </a:p>
        </p:txBody>
      </p:sp>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29440" y="563079"/>
            <a:ext cx="8333120" cy="476324"/>
          </a:xfrm>
        </p:spPr>
        <p:txBody>
          <a:bodyPr/>
          <a:lstStyle/>
          <a:p>
            <a:r>
              <a:rPr lang="zh-CN" altLang="zh-CN"/>
              <a:t>Measures of Central Tendency</a:t>
            </a:r>
            <a:br>
              <a:rPr lang="zh-CN" altLang="zh-CN"/>
            </a:br>
            <a:br>
              <a:rPr lang="zh-CN" altLang="zh-CN"/>
            </a:br>
            <a:r>
              <a:rPr lang="zh-CN" altLang="zh-CN"/>
              <a:t> </a:t>
            </a:r>
          </a:p>
        </p:txBody>
      </p:sp>
      <p:sp>
        <p:nvSpPr>
          <p:cNvPr id="10" name="TextBox 23"/>
          <p:cNvSpPr txBox="1"/>
          <p:nvPr/>
        </p:nvSpPr>
        <p:spPr>
          <a:xfrm>
            <a:off x="433070" y="2132330"/>
            <a:ext cx="11049000" cy="3602990"/>
          </a:xfrm>
          <a:prstGeom prst="rect">
            <a:avLst/>
          </a:prstGeom>
          <a:ln>
            <a:noFill/>
          </a:ln>
        </p:spPr>
        <p:txBody>
          <a:bodyPr wrap="square">
            <a:noAutofit/>
            <a:scene3d>
              <a:camera prst="orthographicFront"/>
              <a:lightRig rig="threePt" dir="t"/>
            </a:scene3d>
            <a:sp3d contourW="12700"/>
          </a:bodyPr>
          <a:lstStyle>
            <a:defPPr>
              <a:defRPr lang="zh-CN"/>
            </a:defPPr>
            <a:lvl1pPr algn="just">
              <a:lnSpc>
                <a:spcPct val="150000"/>
              </a:lnSpc>
              <a:defRPr sz="1400">
                <a:solidFill>
                  <a:schemeClr val="tx1">
                    <a:lumMod val="65000"/>
                    <a:lumOff val="35000"/>
                  </a:schemeClr>
                </a:solidFill>
                <a:latin typeface="Arial" panose="020B0604020202020204" pitchFamily="34" charset="0"/>
                <a:ea typeface="黑体" panose="02010609060101010101" pitchFamily="49" charset="-122"/>
                <a:cs typeface="+mn-ea"/>
              </a:defRPr>
            </a:lvl1pPr>
          </a:lstStyle>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In descriptive analysis, it’s also important to find out the Central (or average) Tendency or response. </a:t>
            </a:r>
          </a:p>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Central tendency is measured with the use of three averages — mean, median, and mode.</a:t>
            </a:r>
          </a:p>
        </p:txBody>
      </p:sp>
    </p:spTree>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29440" y="563079"/>
            <a:ext cx="8333120" cy="476324"/>
          </a:xfrm>
        </p:spPr>
        <p:txBody>
          <a:bodyPr/>
          <a:lstStyle/>
          <a:p>
            <a:r>
              <a:rPr lang="zh-CN" altLang="zh-CN"/>
              <a:t>Measures of Dispersion</a:t>
            </a:r>
          </a:p>
        </p:txBody>
      </p:sp>
      <p:sp>
        <p:nvSpPr>
          <p:cNvPr id="10" name="TextBox 23"/>
          <p:cNvSpPr txBox="1"/>
          <p:nvPr/>
        </p:nvSpPr>
        <p:spPr>
          <a:xfrm>
            <a:off x="433070" y="2132330"/>
            <a:ext cx="11049000" cy="3602990"/>
          </a:xfrm>
          <a:prstGeom prst="rect">
            <a:avLst/>
          </a:prstGeom>
          <a:ln>
            <a:noFill/>
          </a:ln>
        </p:spPr>
        <p:txBody>
          <a:bodyPr wrap="square">
            <a:noAutofit/>
            <a:scene3d>
              <a:camera prst="orthographicFront"/>
              <a:lightRig rig="threePt" dir="t"/>
            </a:scene3d>
            <a:sp3d contourW="12700"/>
          </a:bodyPr>
          <a:lstStyle>
            <a:defPPr>
              <a:defRPr lang="zh-CN"/>
            </a:defPPr>
            <a:lvl1pPr algn="just">
              <a:lnSpc>
                <a:spcPct val="150000"/>
              </a:lnSpc>
              <a:defRPr sz="1400">
                <a:solidFill>
                  <a:schemeClr val="tx1">
                    <a:lumMod val="65000"/>
                    <a:lumOff val="35000"/>
                  </a:schemeClr>
                </a:solidFill>
                <a:latin typeface="Arial" panose="020B0604020202020204" pitchFamily="34" charset="0"/>
                <a:ea typeface="黑体" panose="02010609060101010101" pitchFamily="49" charset="-122"/>
                <a:cs typeface="+mn-ea"/>
              </a:defRPr>
            </a:lvl1pPr>
          </a:lstStyle>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Sometimes, it is important to know how data is divided across a range. To elaborate this, consider the average weight in a sample of two people. If both individuals are 60 kilos, the average weight will be 60 kg. However, if one individual is 50 kg and the other is 70 kg, the average weight is still 60 kg.</a:t>
            </a:r>
          </a:p>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 Measures of dispersion like range or standard deviation can be employed to measure this kind of distribution.</a:t>
            </a:r>
          </a:p>
          <a:p>
            <a:pPr indent="0">
              <a:buFont typeface="Wingdings" panose="05000000000000000000" charset="0"/>
              <a:buNone/>
            </a:pPr>
            <a:endParaRPr lang="zh-CN" altLang="en-US" sz="2200" dirty="0">
              <a:ea typeface="Calibri" panose="020F0502020204030204" pitchFamily="34" charset="0"/>
              <a:cs typeface="Calibri" panose="020F0502020204030204" pitchFamily="34" charset="0"/>
              <a:sym typeface="Arial" panose="020B0604020202020204" pitchFamily="34" charset="0"/>
            </a:endParaRPr>
          </a:p>
        </p:txBody>
      </p:sp>
    </p:spTree>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3"/>
          <p:cNvSpPr txBox="1"/>
          <p:nvPr/>
        </p:nvSpPr>
        <p:spPr>
          <a:xfrm>
            <a:off x="433070" y="2132330"/>
            <a:ext cx="11049000" cy="3602990"/>
          </a:xfrm>
          <a:prstGeom prst="rect">
            <a:avLst/>
          </a:prstGeom>
          <a:ln>
            <a:noFill/>
          </a:ln>
        </p:spPr>
        <p:txBody>
          <a:bodyPr wrap="square">
            <a:noAutofit/>
            <a:scene3d>
              <a:camera prst="orthographicFront"/>
              <a:lightRig rig="threePt" dir="t"/>
            </a:scene3d>
            <a:sp3d contourW="12700"/>
          </a:bodyPr>
          <a:lstStyle>
            <a:defPPr>
              <a:defRPr lang="zh-CN"/>
            </a:defPPr>
            <a:lvl1pPr algn="just">
              <a:lnSpc>
                <a:spcPct val="150000"/>
              </a:lnSpc>
              <a:defRPr sz="1400">
                <a:solidFill>
                  <a:schemeClr val="tx1">
                    <a:lumMod val="65000"/>
                    <a:lumOff val="35000"/>
                  </a:schemeClr>
                </a:solidFill>
                <a:latin typeface="Arial" panose="020B0604020202020204" pitchFamily="34" charset="0"/>
                <a:ea typeface="黑体" panose="02010609060101010101" pitchFamily="49" charset="-122"/>
                <a:cs typeface="+mn-ea"/>
              </a:defRPr>
            </a:lvl1pPr>
          </a:lstStyle>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Descriptive analysis also involves identifying the position of a single value or its response in relation to others.</a:t>
            </a:r>
          </a:p>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 Measures like percentiles and quartiles become very useful in this area of expertise.</a:t>
            </a:r>
          </a:p>
        </p:txBody>
      </p:sp>
      <p:sp>
        <p:nvSpPr>
          <p:cNvPr id="3" name="Title 2"/>
          <p:cNvSpPr>
            <a:spLocks noGrp="1"/>
          </p:cNvSpPr>
          <p:nvPr>
            <p:ph type="title"/>
          </p:nvPr>
        </p:nvSpPr>
        <p:spPr/>
        <p:txBody>
          <a:bodyPr/>
          <a:lstStyle/>
          <a:p>
            <a:br>
              <a:rPr lang="en-GB" altLang="en-US"/>
            </a:br>
            <a:r>
              <a:rPr lang="en-GB" altLang="en-US"/>
              <a:t>    Measures of Position</a:t>
            </a:r>
            <a:br>
              <a:rPr lang="en-GB" altLang="en-US"/>
            </a:br>
            <a:br>
              <a:rPr lang="en-GB" altLang="en-US"/>
            </a:br>
            <a:r>
              <a:rPr lang="en-GB" altLang="en-US"/>
              <a:t> </a:t>
            </a:r>
          </a:p>
        </p:txBody>
      </p:sp>
    </p:spTree>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3"/>
          <p:cNvSpPr txBox="1"/>
          <p:nvPr/>
        </p:nvSpPr>
        <p:spPr>
          <a:xfrm>
            <a:off x="433070" y="2132330"/>
            <a:ext cx="11049000" cy="3602990"/>
          </a:xfrm>
          <a:prstGeom prst="rect">
            <a:avLst/>
          </a:prstGeom>
          <a:ln>
            <a:noFill/>
          </a:ln>
        </p:spPr>
        <p:txBody>
          <a:bodyPr wrap="square">
            <a:noAutofit/>
            <a:scene3d>
              <a:camera prst="orthographicFront"/>
              <a:lightRig rig="threePt" dir="t"/>
            </a:scene3d>
            <a:sp3d contourW="12700"/>
          </a:bodyPr>
          <a:lstStyle>
            <a:defPPr>
              <a:defRPr lang="zh-CN"/>
            </a:defPPr>
            <a:lvl1pPr algn="just">
              <a:lnSpc>
                <a:spcPct val="150000"/>
              </a:lnSpc>
              <a:defRPr sz="1400">
                <a:solidFill>
                  <a:schemeClr val="tx1">
                    <a:lumMod val="65000"/>
                    <a:lumOff val="35000"/>
                  </a:schemeClr>
                </a:solidFill>
                <a:latin typeface="Arial" panose="020B0604020202020204" pitchFamily="34" charset="0"/>
                <a:ea typeface="黑体" panose="02010609060101010101" pitchFamily="49" charset="-122"/>
                <a:cs typeface="+mn-ea"/>
              </a:defRPr>
            </a:lvl1pPr>
          </a:lstStyle>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Step 1: Data Collection</a:t>
            </a:r>
          </a:p>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Step 2: Data Preparation</a:t>
            </a:r>
          </a:p>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Step 3: Apply Methods</a:t>
            </a:r>
          </a:p>
          <a:p>
            <a:pPr marL="342900" indent="-342900">
              <a:buFont typeface="Wingdings" panose="05000000000000000000" charset="0"/>
              <a:buChar char="Ø"/>
            </a:pPr>
            <a:r>
              <a:rPr lang="zh-CN" altLang="en-US" sz="2200" dirty="0">
                <a:ea typeface="Calibri" panose="020F0502020204030204" pitchFamily="34" charset="0"/>
                <a:cs typeface="Calibri" panose="020F0502020204030204" pitchFamily="34" charset="0"/>
                <a:sym typeface="Arial" panose="020B0604020202020204" pitchFamily="34" charset="0"/>
              </a:rPr>
              <a:t>Step 4: Summary Statistics and Visualization</a:t>
            </a:r>
          </a:p>
        </p:txBody>
      </p:sp>
      <p:sp>
        <p:nvSpPr>
          <p:cNvPr id="3" name="Title 2"/>
          <p:cNvSpPr>
            <a:spLocks noGrp="1"/>
          </p:cNvSpPr>
          <p:nvPr>
            <p:ph type="title"/>
          </p:nvPr>
        </p:nvSpPr>
        <p:spPr/>
        <p:txBody>
          <a:bodyPr/>
          <a:lstStyle/>
          <a:p>
            <a:r>
              <a:rPr lang="en-GB" altLang="en-US"/>
              <a:t>How to Conduct a Descriptive Analysis?</a:t>
            </a:r>
          </a:p>
        </p:txBody>
      </p:sp>
    </p:spTree>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77390" y="478155"/>
            <a:ext cx="9349740" cy="4425950"/>
          </a:xfrm>
          <a:prstGeom prst="rect">
            <a:avLst/>
          </a:prstGeom>
          <a:noFill/>
        </p:spPr>
        <p:txBody>
          <a:bodyPr wrap="square" rtlCol="0">
            <a:noAutofit/>
          </a:bodyPr>
          <a:lstStyle/>
          <a:p>
            <a:pPr marL="342900" indent="-342900">
              <a:buFont typeface="Wingdings" panose="05000000000000000000" charset="0"/>
              <a:buChar char="Ø"/>
            </a:pPr>
            <a:r>
              <a:rPr lang="en-GB" altLang="en-US" sz="2400"/>
              <a:t>Step 1: Data Collection</a:t>
            </a:r>
          </a:p>
          <a:p>
            <a:endParaRPr lang="en-GB" altLang="en-US" sz="2400"/>
          </a:p>
          <a:p>
            <a:r>
              <a:rPr lang="en-GB" altLang="en-US" sz="2400"/>
              <a:t>Before conducting any analysis, you must first collect relevant data. This process involves identifying data sources, selecting appropriate data-collecting methods, and verifying that the data acquired accurately represents the population or topic of interest.</a:t>
            </a:r>
          </a:p>
          <a:p>
            <a:endParaRPr lang="en-GB" altLang="en-US" sz="2400"/>
          </a:p>
          <a:p>
            <a:pPr marL="342900" indent="-342900">
              <a:buFont typeface="Wingdings" panose="05000000000000000000" charset="0"/>
              <a:buChar char="Ø"/>
            </a:pPr>
            <a:r>
              <a:rPr lang="en-GB" altLang="en-US" sz="2400"/>
              <a:t>Step 2: Data Preparation</a:t>
            </a:r>
          </a:p>
          <a:p>
            <a:pPr marL="342900" indent="-342900">
              <a:buFont typeface="Wingdings" panose="05000000000000000000" charset="0"/>
              <a:buChar char="Ø"/>
            </a:pPr>
            <a:endParaRPr lang="en-GB" altLang="en-US" sz="2400"/>
          </a:p>
          <a:p>
            <a:r>
              <a:rPr lang="en-GB" altLang="en-US" sz="2400"/>
              <a:t>    Data Cleaning </a:t>
            </a:r>
          </a:p>
          <a:p>
            <a:r>
              <a:rPr lang="en-GB" altLang="en-US" sz="2400"/>
              <a:t>    Data Transformation </a:t>
            </a:r>
          </a:p>
          <a:p>
            <a:r>
              <a:rPr lang="en-GB" altLang="en-US" sz="2400"/>
              <a:t>    Data Reduction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68855" y="854075"/>
            <a:ext cx="7336790" cy="4612640"/>
          </a:xfrm>
          <a:prstGeom prst="rect">
            <a:avLst/>
          </a:prstGeom>
          <a:noFill/>
        </p:spPr>
        <p:txBody>
          <a:bodyPr wrap="square" rtlCol="0">
            <a:noAutofit/>
          </a:bodyPr>
          <a:lstStyle/>
          <a:p>
            <a:pPr marL="342900" indent="-342900">
              <a:buFont typeface="Wingdings" panose="05000000000000000000" charset="0"/>
              <a:buChar char="Ø"/>
            </a:pPr>
            <a:r>
              <a:rPr lang="en-GB" altLang="en-US" sz="2400"/>
              <a:t>Step 3: Apply Methods</a:t>
            </a:r>
          </a:p>
          <a:p>
            <a:endParaRPr lang="en-GB" altLang="en-US" sz="2400"/>
          </a:p>
          <a:p>
            <a:r>
              <a:rPr lang="en-GB" altLang="en-US" sz="2400"/>
              <a:t>    Frequency Distribution Analysis</a:t>
            </a:r>
          </a:p>
          <a:p>
            <a:r>
              <a:rPr lang="en-GB" altLang="en-US" sz="2400"/>
              <a:t>    Measures of Central Tendency</a:t>
            </a:r>
          </a:p>
          <a:p>
            <a:r>
              <a:rPr lang="en-GB" altLang="en-US" sz="2400"/>
              <a:t>    Measures of Dispersion </a:t>
            </a:r>
          </a:p>
          <a:p>
            <a:r>
              <a:rPr lang="en-GB" altLang="en-US" sz="2400"/>
              <a:t>    Measures of Position</a:t>
            </a:r>
          </a:p>
          <a:p>
            <a:endParaRPr lang="en-GB" altLang="en-US" sz="2400"/>
          </a:p>
          <a:p>
            <a:pPr marL="342900" indent="-342900">
              <a:buFont typeface="Wingdings" panose="05000000000000000000" charset="0"/>
              <a:buChar char="Ø"/>
            </a:pPr>
            <a:r>
              <a:rPr lang="en-GB" altLang="en-US" sz="2400"/>
              <a:t>Step 4: Summary Statistics and Visualization</a:t>
            </a:r>
          </a:p>
          <a:p>
            <a:pPr marL="342900" indent="-342900">
              <a:buFont typeface="Wingdings" panose="05000000000000000000" charset="0"/>
              <a:buChar char="Ø"/>
            </a:pPr>
            <a:endParaRPr lang="en-GB" altLang="en-US" sz="2400"/>
          </a:p>
          <a:p>
            <a:r>
              <a:rPr lang="en-GB" altLang="en-US" sz="2400"/>
              <a:t>    Summary Statistics</a:t>
            </a:r>
          </a:p>
          <a:p>
            <a:r>
              <a:rPr lang="en-GB" altLang="en-US" sz="2400"/>
              <a:t>    Data Visualization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587115" y="2419350"/>
            <a:ext cx="5340350" cy="1466215"/>
          </a:xfrm>
          <a:prstGeom prst="rect">
            <a:avLst/>
          </a:prstGeom>
          <a:noFill/>
        </p:spPr>
        <p:txBody>
          <a:bodyPr wrap="square" rtlCol="0">
            <a:noAutofit/>
          </a:bodyPr>
          <a:lstStyle/>
          <a:p>
            <a:r>
              <a:rPr lang="en-GB" altLang="en-US" sz="6600"/>
              <a:t>THANK YOU</a:t>
            </a:r>
          </a:p>
        </p:txBody>
      </p:sp>
    </p:spTree>
  </p:cSld>
  <p:clrMapOvr>
    <a:masterClrMapping/>
  </p:clrMapOvr>
</p:sld>
</file>

<file path=ppt/theme/theme1.xml><?xml version="1.0" encoding="utf-8"?>
<a:theme xmlns:a="http://schemas.openxmlformats.org/drawingml/2006/main" name="Office 主题">
  <a:themeElements>
    <a:clrScheme name="自定义 197">
      <a:dk1>
        <a:srgbClr val="FFFFFF"/>
      </a:dk1>
      <a:lt1>
        <a:srgbClr val="000000"/>
      </a:lt1>
      <a:dk2>
        <a:srgbClr val="FFFFFF"/>
      </a:dk2>
      <a:lt2>
        <a:srgbClr val="000000"/>
      </a:lt2>
      <a:accent1>
        <a:srgbClr val="F2F2F2"/>
      </a:accent1>
      <a:accent2>
        <a:srgbClr val="FFFFFF"/>
      </a:accent2>
      <a:accent3>
        <a:srgbClr val="000000"/>
      </a:accent3>
      <a:accent4>
        <a:srgbClr val="FFC000"/>
      </a:accent4>
      <a:accent5>
        <a:srgbClr val="4472C4"/>
      </a:accent5>
      <a:accent6>
        <a:srgbClr val="70AD47"/>
      </a:accent6>
      <a:hlink>
        <a:srgbClr val="0563C1"/>
      </a:hlink>
      <a:folHlink>
        <a:srgbClr val="954F72"/>
      </a:folHlink>
    </a:clrScheme>
    <a:fontScheme name="2tmh2sbj">
      <a:majorFont>
        <a:latin typeface="Arial"/>
        <a:ea typeface="SimHei"/>
        <a:cs typeface=""/>
      </a:majorFont>
      <a:minorFont>
        <a:latin typeface="Arial"/>
        <a:ea typeface="Sim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1463</Words>
  <Application>Microsoft Office PowerPoint</Application>
  <PresentationFormat>Widescreen</PresentationFormat>
  <Paragraphs>76</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Wingdings</vt:lpstr>
      <vt:lpstr>等线</vt:lpstr>
      <vt:lpstr>Calibri</vt:lpstr>
      <vt:lpstr>Arial</vt:lpstr>
      <vt:lpstr>幼圆</vt:lpstr>
      <vt:lpstr>Office 主题</vt:lpstr>
      <vt:lpstr>PowerPoint Presentation</vt:lpstr>
      <vt:lpstr>PowerPoint Presentation</vt:lpstr>
      <vt:lpstr>Introduction</vt:lpstr>
      <vt:lpstr>What is Descriptive Analysis?</vt:lpstr>
      <vt:lpstr>Techniques for Descriptive Analysis   </vt:lpstr>
      <vt:lpstr>PowerPoint Presentation</vt:lpstr>
      <vt:lpstr>PowerPoint Presentation</vt:lpstr>
      <vt:lpstr>  Measures of Frequency   </vt:lpstr>
      <vt:lpstr>Measures of Central Tendency   </vt:lpstr>
      <vt:lpstr>Measures of Dispersion</vt:lpstr>
      <vt:lpstr>     Measures of Position   </vt:lpstr>
      <vt:lpstr>How to Conduct a Descriptive Analysis?</vt:lpstr>
      <vt:lpstr>PowerPoint Presentation</vt:lpstr>
      <vt:lpstr>PowerPoint Presentation</vt:lpstr>
      <vt:lpstr>PowerPoint Presentation</vt:lpstr>
    </vt:vector>
  </TitlesOfParts>
  <Manager>尘电</Manager>
  <Company>稻壳儿</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dc:creator>
  <dc:description>尘电</dc:description>
  <cp:lastModifiedBy>Bosubabu Sambana</cp:lastModifiedBy>
  <cp:revision>196</cp:revision>
  <dcterms:created xsi:type="dcterms:W3CDTF">2017-11-09T01:47:00Z</dcterms:created>
  <dcterms:modified xsi:type="dcterms:W3CDTF">2026-07-31T05:17:25Z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2057-12.2.0.13431</vt:lpwstr>
  </property>
  <property fmtid="{D5CDD505-2E9C-101B-9397-08002B2CF9AE}" pid="3" name="ICV">
    <vt:lpwstr>99B528E65E634D39AC41CD7DCD27ABBD_13</vt:lpwstr>
  </property>
</Properties>
</file>